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000" dirty="0"/>
              <a:t>Разработка </a:t>
            </a:r>
            <a:r>
              <a:rPr lang="ru-RU" sz="4000" dirty="0" err="1"/>
              <a:t>NoSQL</a:t>
            </a:r>
            <a:r>
              <a:rPr lang="ru-RU" sz="4000" dirty="0"/>
              <a:t>-подсистемы аналитики заказов доставки еды (Вариант 6).</a:t>
            </a:r>
            <a:br>
              <a:rPr lang="ru-RU" sz="4000" dirty="0"/>
            </a:br>
            <a:r>
              <a:rPr lang="ru-RU" sz="4000" dirty="0"/>
              <a:t>Дисциплина: Проектирование и применение </a:t>
            </a:r>
            <a:r>
              <a:rPr lang="ru-RU" sz="4000" dirty="0" err="1"/>
              <a:t>NoSQL</a:t>
            </a:r>
            <a:r>
              <a:rPr lang="ru-RU" sz="4000" dirty="0"/>
              <a:t>-технологий.</a:t>
            </a:r>
            <a:endParaRPr lang="en-US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</a:t>
            </a:r>
            <a:r>
              <a:rPr lang="kk-KZ" dirty="0"/>
              <a:t>а</a:t>
            </a:r>
            <a:r>
              <a:rPr lang="ru-RU" dirty="0" smtClean="0"/>
              <a:t>: </a:t>
            </a:r>
            <a:r>
              <a:rPr lang="ru-RU" dirty="0" err="1" smtClean="0"/>
              <a:t>конысбай</a:t>
            </a:r>
            <a:r>
              <a:rPr lang="ru-RU" dirty="0" smtClean="0"/>
              <a:t> </a:t>
            </a:r>
            <a:r>
              <a:rPr lang="ru-RU" dirty="0" err="1" smtClean="0"/>
              <a:t>алия</a:t>
            </a:r>
            <a:r>
              <a:rPr lang="ru-RU" dirty="0" smtClean="0"/>
              <a:t> ис24-22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72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проблемы и Цель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Проблема</a:t>
            </a:r>
            <a:r>
              <a:rPr lang="ru-RU" dirty="0"/>
              <a:t>: Нагрузка на реляционные БД при агрегации миллионов вложенных позиций заказов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i="1" dirty="0" smtClean="0"/>
              <a:t>Цель</a:t>
            </a:r>
            <a:r>
              <a:rPr lang="ru-RU" dirty="0"/>
              <a:t>: Реализовать рабочую модель на </a:t>
            </a:r>
            <a:r>
              <a:rPr lang="ru-RU" dirty="0" err="1"/>
              <a:t>MongoDB</a:t>
            </a:r>
            <a:r>
              <a:rPr lang="ru-RU" dirty="0"/>
              <a:t>, способную мгновенно считать выручку через </a:t>
            </a:r>
            <a:r>
              <a:rPr lang="ru-RU" dirty="0" err="1"/>
              <a:t>Aggregation</a:t>
            </a:r>
            <a:r>
              <a:rPr lang="ru-RU" dirty="0"/>
              <a:t> </a:t>
            </a:r>
            <a:r>
              <a:rPr lang="ru-RU" dirty="0" err="1"/>
              <a:t>Framework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11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системе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Функциональные</a:t>
            </a:r>
            <a:r>
              <a:rPr lang="ru-RU" dirty="0"/>
              <a:t>: CRUD операции, гибкая фильтрация и сквозная бизнес-аналитика.</a:t>
            </a:r>
            <a:br>
              <a:rPr lang="ru-RU" dirty="0"/>
            </a:br>
            <a:endParaRPr lang="ru-RU" dirty="0" smtClean="0"/>
          </a:p>
          <a:p>
            <a:r>
              <a:rPr lang="ru-RU" i="1" dirty="0" smtClean="0"/>
              <a:t>Нефункциональные</a:t>
            </a:r>
            <a:r>
              <a:rPr lang="ru-RU" dirty="0"/>
              <a:t>: Высокая скорость запросов (&lt;150 </a:t>
            </a:r>
            <a:r>
              <a:rPr lang="ru-RU" dirty="0" err="1"/>
              <a:t>мс</a:t>
            </a:r>
            <a:r>
              <a:rPr lang="ru-RU" dirty="0"/>
              <a:t>), масштабируемость, </a:t>
            </a:r>
            <a:r>
              <a:rPr lang="ru-RU" dirty="0" err="1"/>
              <a:t>Schema-less</a:t>
            </a:r>
            <a:r>
              <a:rPr lang="ru-RU" dirty="0"/>
              <a:t> структура документов.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89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данных (</a:t>
            </a:r>
            <a:r>
              <a:rPr lang="en-US" dirty="0"/>
              <a:t>ADR)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ru-RU" dirty="0" err="1"/>
              <a:t>MongoDB</a:t>
            </a:r>
            <a:r>
              <a:rPr lang="ru-RU" dirty="0"/>
              <a:t>? Отказ от нормализации в пользу паттерна </a:t>
            </a:r>
            <a:r>
              <a:rPr lang="ru-RU" dirty="0" err="1"/>
              <a:t>Embedding</a:t>
            </a:r>
            <a:r>
              <a:rPr lang="ru-RU" dirty="0"/>
              <a:t> (встраивание массивов товаров прямо в заказ). Это убирает лишние связи и ускоряет запись данных.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51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и схема данных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Визуальное перечисление коллекций </a:t>
            </a:r>
            <a:r>
              <a:rPr lang="ru-RU" dirty="0" err="1"/>
              <a:t>restaurants</a:t>
            </a:r>
            <a:r>
              <a:rPr lang="ru-RU" dirty="0"/>
              <a:t> (Справочник) и </a:t>
            </a:r>
            <a:r>
              <a:rPr lang="ru-RU" dirty="0" err="1"/>
              <a:t>orders</a:t>
            </a:r>
            <a:r>
              <a:rPr lang="ru-RU" dirty="0"/>
              <a:t> (Документы заказов со встроенным массивом </a:t>
            </a:r>
            <a:r>
              <a:rPr lang="ru-RU" dirty="0" err="1"/>
              <a:t>items</a:t>
            </a:r>
            <a:r>
              <a:rPr lang="ru-RU" dirty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2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Тестовые данные (30+ записей)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Описание генерации данных: Скрипт main.py автоматически развернул в базе данных 3 ресторана и 30 разнообразных заказов клиентов для симуляции реальной работы сервиса доставки еды.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3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Демонстрация </a:t>
            </a:r>
            <a:r>
              <a:rPr lang="en-US" dirty="0"/>
              <a:t>CRUD </a:t>
            </a:r>
            <a:r>
              <a:rPr lang="ru-RU" dirty="0"/>
              <a:t>запросов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Показ результатов выполнения простых запросов: Создание тестовой записи №999, ее чтение, перевод в статус "Доставлен" и последующее удаление.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5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Аналитика и Агрегация (Вариант 6)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Схема работы </a:t>
            </a:r>
            <a:r>
              <a:rPr lang="en-US" dirty="0"/>
              <a:t>Aggregation Pipeline:</a:t>
            </a:r>
            <a:r>
              <a:rPr lang="ru-RU" dirty="0"/>
              <a:t>Фильтрация ($</a:t>
            </a:r>
            <a:r>
              <a:rPr lang="en-US" dirty="0"/>
              <a:t>match) -&gt; </a:t>
            </a:r>
            <a:r>
              <a:rPr lang="ru-RU" dirty="0"/>
              <a:t>Развертывание массивов ($</a:t>
            </a:r>
            <a:r>
              <a:rPr lang="en-US" dirty="0"/>
              <a:t>unwind) -&gt; </a:t>
            </a:r>
            <a:r>
              <a:rPr lang="ru-RU" dirty="0"/>
              <a:t>Расчет выручки ($</a:t>
            </a:r>
            <a:r>
              <a:rPr lang="en-US" dirty="0"/>
              <a:t>group) -&gt; </a:t>
            </a:r>
            <a:r>
              <a:rPr lang="ru-RU" dirty="0"/>
              <a:t>Связывание коллекций ($</a:t>
            </a:r>
            <a:r>
              <a:rPr lang="en-US" dirty="0"/>
              <a:t>lookup)</a:t>
            </a:r>
          </a:p>
        </p:txBody>
      </p:sp>
    </p:spTree>
    <p:extLst>
      <p:ext uri="{BB962C8B-B14F-4D97-AF65-F5344CB8AC3E}">
        <p14:creationId xmlns:p14="http://schemas.microsoft.com/office/powerpoint/2010/main" val="167980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тестов производительности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Сравнение скорости поиска до и после создания индекса на статус заказа (Запросы 6 и 7). Наглядное преимущество индексирования в </a:t>
            </a:r>
            <a:r>
              <a:rPr lang="ru-RU" dirty="0" err="1"/>
              <a:t>MongoDB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318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Итоги: Все 8 запросов и 3 тестовых сценария успешно выполнены. Прототип подтвердил эффективность </a:t>
            </a:r>
            <a:r>
              <a:rPr lang="ru-RU" dirty="0" err="1"/>
              <a:t>NoSQL</a:t>
            </a:r>
            <a:r>
              <a:rPr lang="ru-RU"/>
              <a:t> подхода.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21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255</Words>
  <Application>Microsoft Office PowerPoint</Application>
  <PresentationFormat>Широкоэкранный</PresentationFormat>
  <Paragraphs>23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Ион</vt:lpstr>
      <vt:lpstr>Разработка NoSQL-подсистемы аналитики заказов доставки еды (Вариант 6). Дисциплина: Проектирование и применение NoSQL-технологий.</vt:lpstr>
      <vt:lpstr>Постановка проблемы и Цель</vt:lpstr>
      <vt:lpstr>Требования к системе</vt:lpstr>
      <vt:lpstr>Архитектура данных (ADR)</vt:lpstr>
      <vt:lpstr>Модель и схема данных</vt:lpstr>
      <vt:lpstr>Тестовые данные (30+ записей)</vt:lpstr>
      <vt:lpstr>Демонстрация CRUD запросов</vt:lpstr>
      <vt:lpstr>Аналитика и Агрегация (Вариант 6)</vt:lpstr>
      <vt:lpstr>Результаты тестов производительности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NoSQL-подсистемы аналитики заказов доставки еды (Вариант 6). Дисциплина: Проектирование и применение NoSQL-технологий.</dc:title>
  <dc:creator>Student</dc:creator>
  <cp:lastModifiedBy>Student</cp:lastModifiedBy>
  <cp:revision>2</cp:revision>
  <dcterms:created xsi:type="dcterms:W3CDTF">2026-10-12T10:52:08Z</dcterms:created>
  <dcterms:modified xsi:type="dcterms:W3CDTF">2026-10-12T11:05:00Z</dcterms:modified>
</cp:coreProperties>
</file>